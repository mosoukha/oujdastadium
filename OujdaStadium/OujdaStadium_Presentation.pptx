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Open Sans Bold" charset="1" panose="020B0806030504020204"/>
      <p:regular r:id="rId18"/>
    </p:embeddedFont>
    <p:embeddedFont>
      <p:font typeface="Georgia Pro Bold" charset="1" panose="02040802050405020203"/>
      <p:regular r:id="rId19"/>
    </p:embeddedFont>
    <p:embeddedFont>
      <p:font typeface="Lovelo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2.pn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954807"/>
            <a:ext cx="20097573" cy="15461911"/>
          </a:xfrm>
          <a:custGeom>
            <a:avLst/>
            <a:gdLst/>
            <a:ahLst/>
            <a:cxnLst/>
            <a:rect r="r" b="b" t="t" l="l"/>
            <a:pathLst>
              <a:path h="15461911" w="20097573">
                <a:moveTo>
                  <a:pt x="0" y="0"/>
                </a:moveTo>
                <a:lnTo>
                  <a:pt x="20097573" y="0"/>
                </a:lnTo>
                <a:lnTo>
                  <a:pt x="20097573" y="15461911"/>
                </a:lnTo>
                <a:lnTo>
                  <a:pt x="0" y="1546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18" t="0" r="-3177" b="-8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1092" y="1250337"/>
            <a:ext cx="16080570" cy="7873955"/>
            <a:chOff x="0" y="0"/>
            <a:chExt cx="4235212" cy="2073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35212" cy="2073799"/>
            </a:xfrm>
            <a:custGeom>
              <a:avLst/>
              <a:gdLst/>
              <a:ahLst/>
              <a:cxnLst/>
              <a:rect r="r" b="b" t="t" l="l"/>
              <a:pathLst>
                <a:path h="2073799" w="4235212">
                  <a:moveTo>
                    <a:pt x="0" y="0"/>
                  </a:moveTo>
                  <a:lnTo>
                    <a:pt x="4235212" y="0"/>
                  </a:lnTo>
                  <a:lnTo>
                    <a:pt x="4235212" y="2073799"/>
                  </a:lnTo>
                  <a:lnTo>
                    <a:pt x="0" y="2073799"/>
                  </a:lnTo>
                  <a:close/>
                </a:path>
              </a:pathLst>
            </a:custGeom>
            <a:solidFill>
              <a:srgbClr val="08261E">
                <a:alpha val="6588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35212" cy="211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48557" y="1282609"/>
            <a:ext cx="5597311" cy="1530934"/>
            <a:chOff x="0" y="0"/>
            <a:chExt cx="7463081" cy="20412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7219" cy="2041245"/>
            </a:xfrm>
            <a:custGeom>
              <a:avLst/>
              <a:gdLst/>
              <a:ahLst/>
              <a:cxnLst/>
              <a:rect r="r" b="b" t="t" l="l"/>
              <a:pathLst>
                <a:path h="2041245" w="2037219">
                  <a:moveTo>
                    <a:pt x="0" y="0"/>
                  </a:moveTo>
                  <a:lnTo>
                    <a:pt x="2037219" y="0"/>
                  </a:lnTo>
                  <a:lnTo>
                    <a:pt x="2037219" y="2041245"/>
                  </a:lnTo>
                  <a:lnTo>
                    <a:pt x="0" y="2041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943" t="-5371" r="-5257" b="-68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018609" y="39079"/>
              <a:ext cx="6444472" cy="91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39"/>
                </a:lnSpc>
              </a:pPr>
              <a:r>
                <a:rPr lang="en-US" sz="417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74349" y="1008693"/>
              <a:ext cx="5031289" cy="91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39"/>
                </a:lnSpc>
              </a:pPr>
              <a:r>
                <a:rPr lang="en-US" sz="4170" spc="67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4170" spc="67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2700000">
            <a:off x="818996" y="-106780"/>
            <a:ext cx="1063157" cy="2023310"/>
          </a:xfrm>
          <a:custGeom>
            <a:avLst/>
            <a:gdLst/>
            <a:ahLst/>
            <a:cxnLst/>
            <a:rect r="r" b="b" t="t" l="l"/>
            <a:pathLst>
              <a:path h="2023310" w="1063157">
                <a:moveTo>
                  <a:pt x="0" y="0"/>
                </a:moveTo>
                <a:lnTo>
                  <a:pt x="1063157" y="0"/>
                </a:lnTo>
                <a:lnTo>
                  <a:pt x="1063157" y="2023310"/>
                </a:lnTo>
                <a:lnTo>
                  <a:pt x="0" y="2023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762152" y="3623167"/>
            <a:ext cx="13954171" cy="149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4"/>
              </a:lnSpc>
              <a:spcBef>
                <a:spcPct val="0"/>
              </a:spcBef>
            </a:pPr>
            <a:r>
              <a:rPr lang="en-US" b="true" sz="433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 Mobile de gestion des reservations des stades de foot à Oujda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8100000">
            <a:off x="17100489" y="8185719"/>
            <a:ext cx="1062346" cy="2021766"/>
          </a:xfrm>
          <a:custGeom>
            <a:avLst/>
            <a:gdLst/>
            <a:ahLst/>
            <a:cxnLst/>
            <a:rect r="r" b="b" t="t" l="l"/>
            <a:pathLst>
              <a:path h="2021766" w="1062346">
                <a:moveTo>
                  <a:pt x="0" y="0"/>
                </a:moveTo>
                <a:lnTo>
                  <a:pt x="1062346" y="0"/>
                </a:lnTo>
                <a:lnTo>
                  <a:pt x="1062346" y="2021766"/>
                </a:lnTo>
                <a:lnTo>
                  <a:pt x="0" y="2021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523072" y="6512781"/>
            <a:ext cx="5353660" cy="51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</a:pPr>
            <a:r>
              <a:rPr lang="en-US" b="true" sz="303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Présenté par: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190515"/>
            <a:ext cx="13178427" cy="51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Tajmout Taha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2676898" y="7190515"/>
            <a:ext cx="13178427" cy="51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Mostafa Oukha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676898" y="7767548"/>
            <a:ext cx="13178427" cy="51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Lamriss Afnane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1092" y="7770783"/>
            <a:ext cx="13085006" cy="51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4"/>
              </a:lnSpc>
              <a:spcBef>
                <a:spcPct val="0"/>
              </a:spcBef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Merzak Romaissae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59573" y="5561052"/>
            <a:ext cx="13178427" cy="51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 Une s</a:t>
            </a:r>
            <a:r>
              <a:rPr lang="en-US" sz="30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olution simple pour réserver des terrains de foot rapidement “.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33" t="-5538" r="-138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2640" y="1028700"/>
            <a:ext cx="17216014" cy="8743719"/>
            <a:chOff x="0" y="0"/>
            <a:chExt cx="4534259" cy="2302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34259" cy="2302873"/>
            </a:xfrm>
            <a:custGeom>
              <a:avLst/>
              <a:gdLst/>
              <a:ahLst/>
              <a:cxnLst/>
              <a:rect r="r" b="b" t="t" l="l"/>
              <a:pathLst>
                <a:path h="2302873" w="4534259">
                  <a:moveTo>
                    <a:pt x="0" y="0"/>
                  </a:moveTo>
                  <a:lnTo>
                    <a:pt x="4534259" y="0"/>
                  </a:lnTo>
                  <a:lnTo>
                    <a:pt x="4534259" y="2302873"/>
                  </a:lnTo>
                  <a:lnTo>
                    <a:pt x="0" y="2302873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34259" cy="2340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8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1028700" y="3038048"/>
          <a:ext cx="3771900" cy="3771900"/>
        </p:xfrm>
        <a:graphic>
          <a:graphicData uri="http://schemas.openxmlformats.org/presentationml/2006/ole">
            <p:oleObj imgW="4521200" imgH="452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394590" y="1321286"/>
            <a:ext cx="12171613" cy="147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5"/>
              </a:lnSpc>
              <a:spcBef>
                <a:spcPct val="0"/>
              </a:spcBef>
            </a:pPr>
            <a:r>
              <a:rPr lang="en-US" b="true" sz="303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Qui a déjà cherché un terrain de foot à Oujda ?</a:t>
            </a:r>
          </a:p>
          <a:p>
            <a:pPr algn="ctr">
              <a:lnSpc>
                <a:spcPts val="4245"/>
              </a:lnSpc>
              <a:spcBef>
                <a:spcPct val="0"/>
              </a:spcBef>
            </a:pPr>
            <a:r>
              <a:rPr lang="en-US" b="true" sz="303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Qui a déjà organisé un match de foot entre amis à Oujda ?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459889"/>
            <a:ext cx="3989070" cy="1137622"/>
            <a:chOff x="0" y="0"/>
            <a:chExt cx="5318760" cy="15168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83274" y="179788"/>
              <a:ext cx="3935487" cy="83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b="true" sz="3738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83274" y="979220"/>
              <a:ext cx="2207518" cy="52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233293" y="2648207"/>
            <a:ext cx="3860566" cy="763879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58" r="0" b="-158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82567" y="952500"/>
            <a:ext cx="705117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TECHNIQUE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22" r="0" b="-9222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696694" y="1371600"/>
              <a:ext cx="23300961" cy="12023083"/>
              <a:chOff x="0" y="0"/>
              <a:chExt cx="4602659" cy="237493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602659" cy="2374930"/>
              </a:xfrm>
              <a:custGeom>
                <a:avLst/>
                <a:gdLst/>
                <a:ahLst/>
                <a:cxnLst/>
                <a:rect r="r" b="b" t="t" l="l"/>
                <a:pathLst>
                  <a:path h="2374930" w="4602659">
                    <a:moveTo>
                      <a:pt x="0" y="0"/>
                    </a:moveTo>
                    <a:lnTo>
                      <a:pt x="4602659" y="0"/>
                    </a:lnTo>
                    <a:lnTo>
                      <a:pt x="4602659" y="2374930"/>
                    </a:lnTo>
                    <a:lnTo>
                      <a:pt x="0" y="2374930"/>
                    </a:lnTo>
                    <a:close/>
                  </a:path>
                </a:pathLst>
              </a:custGeom>
              <a:solidFill>
                <a:srgbClr val="000000">
                  <a:alpha val="43922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602659" cy="241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8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04861" y="613185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788135" y="792973"/>
              <a:ext cx="3935487" cy="83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sz="373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788135" y="1592405"/>
              <a:ext cx="2207518" cy="52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269931" y="1816291"/>
            <a:ext cx="3989369" cy="7893651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96908" y="2963803"/>
            <a:ext cx="8728115" cy="57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3"/>
              </a:lnSpc>
              <a:spcBef>
                <a:spcPct val="0"/>
              </a:spcBef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📱 Frontend  :</a:t>
            </a:r>
          </a:p>
          <a:p>
            <a:pPr algn="l">
              <a:lnSpc>
                <a:spcPts val="4893"/>
              </a:lnSpc>
            </a:pPr>
          </a:p>
          <a:p>
            <a:pPr algn="l" marL="625102" indent="-312551" lvl="1">
              <a:lnSpc>
                <a:spcPts val="4053"/>
              </a:lnSpc>
              <a:buFont typeface="Arial"/>
              <a:buChar char="•"/>
            </a:pPr>
            <a:r>
              <a:rPr lang="en-US" sz="28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Développé en Java:gérer les écrans (Activities) , réagir aux clics ,afficher les données , communiquer avec le backend (Firebase, API…)</a:t>
            </a:r>
          </a:p>
          <a:p>
            <a:pPr algn="l" marL="754639" indent="-37731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Interfaces en XML</a:t>
            </a:r>
          </a:p>
          <a:p>
            <a:pPr algn="l" marL="754639" indent="-37731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 basé sur Material Design</a:t>
            </a:r>
          </a:p>
          <a:p>
            <a:pPr algn="l" marL="754639" indent="-37731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Intégration de OSMDroid pour l’affichage des cartes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0965" y="971550"/>
            <a:ext cx="7072780" cy="84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9"/>
              </a:lnSpc>
            </a:pPr>
            <a:r>
              <a:rPr lang="en-US" sz="494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Choix des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82567" y="952500"/>
            <a:ext cx="705117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TECHNIQUE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22" r="0" b="-9222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696694" y="1371600"/>
              <a:ext cx="23300961" cy="12023083"/>
              <a:chOff x="0" y="0"/>
              <a:chExt cx="4602659" cy="237493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602659" cy="2374930"/>
              </a:xfrm>
              <a:custGeom>
                <a:avLst/>
                <a:gdLst/>
                <a:ahLst/>
                <a:cxnLst/>
                <a:rect r="r" b="b" t="t" l="l"/>
                <a:pathLst>
                  <a:path h="2374930" w="4602659">
                    <a:moveTo>
                      <a:pt x="0" y="0"/>
                    </a:moveTo>
                    <a:lnTo>
                      <a:pt x="4602659" y="0"/>
                    </a:lnTo>
                    <a:lnTo>
                      <a:pt x="4602659" y="2374930"/>
                    </a:lnTo>
                    <a:lnTo>
                      <a:pt x="0" y="2374930"/>
                    </a:lnTo>
                    <a:close/>
                  </a:path>
                </a:pathLst>
              </a:custGeom>
              <a:solidFill>
                <a:srgbClr val="000000">
                  <a:alpha val="43922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602659" cy="241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8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04861" y="613185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788135" y="792973"/>
              <a:ext cx="3935487" cy="83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sz="373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788135" y="1592405"/>
              <a:ext cx="2207518" cy="52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0561" y="2563433"/>
            <a:ext cx="8877675" cy="564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b="true" sz="34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☁️ Backend — Firebase :</a:t>
            </a:r>
          </a:p>
          <a:p>
            <a:pPr algn="l">
              <a:lnSpc>
                <a:spcPts val="4444"/>
              </a:lnSpc>
              <a:spcBef>
                <a:spcPct val="0"/>
              </a:spcBef>
            </a:pPr>
          </a:p>
          <a:p>
            <a:pPr algn="l" marL="685450" indent="-342725" lvl="1">
              <a:lnSpc>
                <a:spcPts val="4444"/>
              </a:lnSpc>
              <a:buFont typeface="Arial"/>
              <a:buChar char="•"/>
            </a:pPr>
            <a:r>
              <a:rPr lang="en-US" b="true" sz="31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Firebase Authentication</a:t>
            </a:r>
          </a:p>
          <a:p>
            <a:pPr algn="l">
              <a:lnSpc>
                <a:spcPts val="4444"/>
              </a:lnSpc>
              <a:spcBef>
                <a:spcPct val="0"/>
              </a:spcBef>
            </a:pPr>
            <a:r>
              <a:rPr lang="en-US" sz="31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Gestion des utilisateurs (connexion / inscription)</a:t>
            </a:r>
          </a:p>
          <a:p>
            <a:pPr algn="l" marL="685450" indent="-342725" lvl="1">
              <a:lnSpc>
                <a:spcPts val="4444"/>
              </a:lnSpc>
              <a:buFont typeface="Arial"/>
              <a:buChar char="•"/>
            </a:pPr>
            <a:r>
              <a:rPr lang="en-US" b="true" sz="31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Firestore</a:t>
            </a:r>
          </a:p>
          <a:p>
            <a:pPr algn="l">
              <a:lnSpc>
                <a:spcPts val="4444"/>
              </a:lnSpc>
              <a:spcBef>
                <a:spcPct val="0"/>
              </a:spcBef>
            </a:pPr>
            <a:r>
              <a:rPr lang="en-US" b="true" sz="31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</a:t>
            </a:r>
            <a:r>
              <a:rPr lang="en-US" b="true" sz="31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NoSQL pour :</a:t>
            </a:r>
          </a:p>
          <a:p>
            <a:pPr algn="l">
              <a:lnSpc>
                <a:spcPts val="4444"/>
              </a:lnSpc>
              <a:spcBef>
                <a:spcPct val="0"/>
              </a:spcBef>
            </a:pPr>
            <a:r>
              <a:rPr lang="en-US" sz="31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utilisateurs</a:t>
            </a:r>
          </a:p>
          <a:p>
            <a:pPr algn="l">
              <a:lnSpc>
                <a:spcPts val="4444"/>
              </a:lnSpc>
              <a:spcBef>
                <a:spcPct val="0"/>
              </a:spcBef>
            </a:pPr>
            <a:r>
              <a:rPr lang="en-US" sz="31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stades</a:t>
            </a:r>
          </a:p>
          <a:p>
            <a:pPr algn="l">
              <a:lnSpc>
                <a:spcPts val="4444"/>
              </a:lnSpc>
              <a:spcBef>
                <a:spcPct val="0"/>
              </a:spcBef>
            </a:pPr>
            <a:r>
              <a:rPr lang="en-US" sz="31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réservations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462715" y="2094329"/>
            <a:ext cx="3796585" cy="7512195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60965" y="917479"/>
            <a:ext cx="7072780" cy="84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9"/>
              </a:lnSpc>
            </a:pPr>
            <a:r>
              <a:rPr lang="en-US" sz="494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Choix des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82567" y="952500"/>
            <a:ext cx="705117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TECHNIQUE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22" r="0" b="-9222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696694" y="1371600"/>
              <a:ext cx="23300961" cy="12023083"/>
              <a:chOff x="0" y="0"/>
              <a:chExt cx="4602659" cy="237493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602659" cy="2374930"/>
              </a:xfrm>
              <a:custGeom>
                <a:avLst/>
                <a:gdLst/>
                <a:ahLst/>
                <a:cxnLst/>
                <a:rect r="r" b="b" t="t" l="l"/>
                <a:pathLst>
                  <a:path h="2374930" w="4602659">
                    <a:moveTo>
                      <a:pt x="0" y="0"/>
                    </a:moveTo>
                    <a:lnTo>
                      <a:pt x="4602659" y="0"/>
                    </a:lnTo>
                    <a:lnTo>
                      <a:pt x="4602659" y="2374930"/>
                    </a:lnTo>
                    <a:lnTo>
                      <a:pt x="0" y="2374930"/>
                    </a:lnTo>
                    <a:close/>
                  </a:path>
                </a:pathLst>
              </a:custGeom>
              <a:solidFill>
                <a:srgbClr val="000000">
                  <a:alpha val="43922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602659" cy="241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8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04861" y="613185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788135" y="792973"/>
              <a:ext cx="3935487" cy="83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sz="373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788135" y="1592405"/>
              <a:ext cx="2207518" cy="52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76058" y="2683509"/>
            <a:ext cx="8413018" cy="739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3"/>
              </a:lnSpc>
              <a:spcBef>
                <a:spcPct val="0"/>
              </a:spcBef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🌍 APIs intégrées :</a:t>
            </a:r>
          </a:p>
          <a:p>
            <a:pPr algn="ctr">
              <a:lnSpc>
                <a:spcPts val="4893"/>
              </a:lnSpc>
              <a:spcBef>
                <a:spcPct val="0"/>
              </a:spcBef>
            </a:pPr>
          </a:p>
          <a:p>
            <a:pPr algn="l" marL="754639" indent="-377319" lvl="1">
              <a:lnSpc>
                <a:spcPts val="4893"/>
              </a:lnSpc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OpenStreetMap (via OSMDroid)</a:t>
            </a:r>
          </a:p>
          <a:p>
            <a:pPr algn="l">
              <a:lnSpc>
                <a:spcPts val="4893"/>
              </a:lnSpc>
              <a:spcBef>
                <a:spcPct val="0"/>
              </a:spcBef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</a:t>
            </a:r>
            <a:r>
              <a:rPr lang="en-US" sz="34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Affichage et navigation sur la carte</a:t>
            </a:r>
          </a:p>
          <a:p>
            <a:pPr algn="l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Nominatim:</a:t>
            </a:r>
            <a:r>
              <a:rPr lang="en-US" sz="34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est une API de géocodage  des adresses,  basée sur OpenStreetMap.</a:t>
            </a:r>
          </a:p>
          <a:p>
            <a:pPr algn="l" marL="754639" indent="-377319" lvl="1">
              <a:lnSpc>
                <a:spcPts val="4893"/>
              </a:lnSpc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ImgBBUploader:</a:t>
            </a:r>
            <a:r>
              <a:rPr lang="en-US" sz="34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permet d’uploader des images en ligne via l’API ImgBB.</a:t>
            </a:r>
          </a:p>
          <a:p>
            <a:pPr algn="l">
              <a:lnSpc>
                <a:spcPts val="4893"/>
              </a:lnSpc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</a:p>
          <a:p>
            <a:pPr algn="l">
              <a:lnSpc>
                <a:spcPts val="4893"/>
              </a:lnSpc>
            </a:pP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393385" y="2101848"/>
            <a:ext cx="3865915" cy="7649378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60965" y="898429"/>
            <a:ext cx="7072780" cy="84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9"/>
              </a:lnSpc>
            </a:pPr>
            <a:r>
              <a:rPr lang="en-US" sz="494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Choix des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90975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11" t="0" r="-921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08" y="1129710"/>
            <a:ext cx="17216014" cy="8743719"/>
            <a:chOff x="0" y="0"/>
            <a:chExt cx="4534259" cy="2302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34259" cy="2302873"/>
            </a:xfrm>
            <a:custGeom>
              <a:avLst/>
              <a:gdLst/>
              <a:ahLst/>
              <a:cxnLst/>
              <a:rect r="r" b="b" t="t" l="l"/>
              <a:pathLst>
                <a:path h="2302873" w="4534259">
                  <a:moveTo>
                    <a:pt x="0" y="0"/>
                  </a:moveTo>
                  <a:lnTo>
                    <a:pt x="4534259" y="0"/>
                  </a:lnTo>
                  <a:lnTo>
                    <a:pt x="4534259" y="2302873"/>
                  </a:lnTo>
                  <a:lnTo>
                    <a:pt x="0" y="2302873"/>
                  </a:lnTo>
                  <a:close/>
                </a:path>
              </a:pathLst>
            </a:custGeom>
            <a:solidFill>
              <a:srgbClr val="000000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34259" cy="2340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5040" y="459889"/>
            <a:ext cx="3989070" cy="1137622"/>
            <a:chOff x="0" y="0"/>
            <a:chExt cx="5318760" cy="1516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83274" y="179788"/>
              <a:ext cx="3935487" cy="837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b="true" sz="3738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83274" y="979220"/>
              <a:ext cx="2207518" cy="521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572223" y="2836684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2184818" y="2836684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7255707" y="3031820"/>
            <a:ext cx="3776586" cy="684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3"/>
              </a:lnSpc>
              <a:spcBef>
                <a:spcPct val="0"/>
              </a:spcBef>
            </a:pPr>
            <a:r>
              <a:rPr lang="en-US" b="true" sz="37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📁 Stade</a:t>
            </a:r>
            <a:r>
              <a:rPr lang="en-US" b="true" sz="37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  <a:p>
            <a:pPr algn="ctr">
              <a:lnSpc>
                <a:spcPts val="4893"/>
              </a:lnSpc>
              <a:spcBef>
                <a:spcPct val="0"/>
              </a:spcBef>
            </a:pP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nomStade</a:t>
            </a: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adresse</a:t>
            </a: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</a:t>
            </a: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capacit</a:t>
            </a: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é</a:t>
            </a: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prixParHeure</a:t>
            </a: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photos[]</a:t>
            </a: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</a:p>
          <a:p>
            <a:pPr algn="ctr" marL="754639" indent="-377319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userId</a:t>
            </a:r>
          </a:p>
          <a:p>
            <a:pPr algn="ctr">
              <a:lnSpc>
                <a:spcPts val="4893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222888" y="1530836"/>
            <a:ext cx="547088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 DE DONNÉES 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38948" y="3131381"/>
            <a:ext cx="3880750" cy="517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0"/>
              </a:lnSpc>
              <a:spcBef>
                <a:spcPct val="0"/>
              </a:spcBef>
            </a:pPr>
            <a:r>
              <a:rPr lang="en-US" b="true" sz="35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📁 Utilisate</a:t>
            </a:r>
            <a:r>
              <a:rPr lang="en-US" b="true" sz="35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urs</a:t>
            </a:r>
          </a:p>
          <a:p>
            <a:pPr algn="ctr">
              <a:lnSpc>
                <a:spcPts val="4560"/>
              </a:lnSpc>
              <a:spcBef>
                <a:spcPct val="0"/>
              </a:spcBef>
            </a:pPr>
          </a:p>
          <a:p>
            <a:pPr algn="ctr" marL="703294" indent="-351647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</a:t>
            </a:r>
          </a:p>
          <a:p>
            <a:pPr algn="ctr" marL="703294" indent="-351647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motDePasse</a:t>
            </a:r>
          </a:p>
          <a:p>
            <a:pPr algn="ctr" marL="703294" indent="-351647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nom</a:t>
            </a:r>
          </a:p>
          <a:p>
            <a:pPr algn="ctr" marL="703294" indent="-351647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numéro</a:t>
            </a:r>
          </a:p>
          <a:p>
            <a:pPr algn="ctr" marL="703294" indent="-351647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typeUtilisateur</a:t>
            </a:r>
          </a:p>
          <a:p>
            <a:pPr algn="ctr" marL="703294" indent="-351647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dateCreation</a:t>
            </a:r>
          </a:p>
          <a:p>
            <a:pPr algn="ctr">
              <a:lnSpc>
                <a:spcPts val="45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870618" y="3121856"/>
            <a:ext cx="4040979" cy="722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5"/>
              </a:lnSpc>
            </a:pPr>
            <a:r>
              <a:rPr lang="en-US" sz="343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📁 Réservations</a:t>
            </a:r>
          </a:p>
          <a:p>
            <a:pPr algn="ctr">
              <a:lnSpc>
                <a:spcPts val="4385"/>
              </a:lnSpc>
            </a:pP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</a:t>
            </a: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rId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stadeId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tadeName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cré</a:t>
            </a: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neau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</a:t>
            </a: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teReservation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statut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prixTotal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dateCreation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nombreJoueurs</a:t>
            </a:r>
          </a:p>
          <a:p>
            <a:pPr algn="ctr" marL="676356" indent="-338178" lvl="1">
              <a:lnSpc>
                <a:spcPts val="43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notes</a:t>
            </a:r>
          </a:p>
          <a:p>
            <a:pPr algn="ctr">
              <a:lnSpc>
                <a:spcPts val="43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5929886" cy="9017313"/>
            <a:chOff x="0" y="0"/>
            <a:chExt cx="4195526" cy="2374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5526" cy="2374930"/>
            </a:xfrm>
            <a:custGeom>
              <a:avLst/>
              <a:gdLst/>
              <a:ahLst/>
              <a:cxnLst/>
              <a:rect r="r" b="b" t="t" l="l"/>
              <a:pathLst>
                <a:path h="2374930" w="4195526">
                  <a:moveTo>
                    <a:pt x="0" y="0"/>
                  </a:moveTo>
                  <a:lnTo>
                    <a:pt x="4195526" y="0"/>
                  </a:lnTo>
                  <a:lnTo>
                    <a:pt x="4195526" y="2374930"/>
                  </a:lnTo>
                  <a:lnTo>
                    <a:pt x="0" y="2374930"/>
                  </a:lnTo>
                  <a:close/>
                </a:path>
              </a:pathLst>
            </a:custGeom>
            <a:solidFill>
              <a:srgbClr val="000000">
                <a:alpha val="7686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95526" cy="2413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8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2071585" y="2932812"/>
          <a:ext cx="16230600" cy="7088208"/>
        </p:xfrm>
        <a:graphic>
          <a:graphicData uri="http://schemas.openxmlformats.org/presentationml/2006/ole">
            <p:oleObj imgW="19469100" imgH="10325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5989827" y="1424048"/>
            <a:ext cx="630834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Fonctionnaliés 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31958" y="459889"/>
            <a:ext cx="3989070" cy="1137622"/>
            <a:chOff x="0" y="0"/>
            <a:chExt cx="5318760" cy="15168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83274" y="179788"/>
              <a:ext cx="3935487" cy="83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sz="373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83274" y="979220"/>
              <a:ext cx="2207518" cy="52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954807"/>
            <a:ext cx="20097573" cy="15461911"/>
          </a:xfrm>
          <a:custGeom>
            <a:avLst/>
            <a:gdLst/>
            <a:ahLst/>
            <a:cxnLst/>
            <a:rect r="r" b="b" t="t" l="l"/>
            <a:pathLst>
              <a:path h="15461911" w="20097573">
                <a:moveTo>
                  <a:pt x="0" y="0"/>
                </a:moveTo>
                <a:lnTo>
                  <a:pt x="20097573" y="0"/>
                </a:lnTo>
                <a:lnTo>
                  <a:pt x="20097573" y="15461911"/>
                </a:lnTo>
                <a:lnTo>
                  <a:pt x="0" y="1546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18" t="0" r="-3177" b="-8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2520" y="1028700"/>
            <a:ext cx="17475720" cy="9017313"/>
            <a:chOff x="0" y="0"/>
            <a:chExt cx="4602659" cy="2374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02659" cy="2374930"/>
            </a:xfrm>
            <a:custGeom>
              <a:avLst/>
              <a:gdLst/>
              <a:ahLst/>
              <a:cxnLst/>
              <a:rect r="r" b="b" t="t" l="l"/>
              <a:pathLst>
                <a:path h="2374930" w="4602659">
                  <a:moveTo>
                    <a:pt x="0" y="0"/>
                  </a:moveTo>
                  <a:lnTo>
                    <a:pt x="4602659" y="0"/>
                  </a:lnTo>
                  <a:lnTo>
                    <a:pt x="4602659" y="2374930"/>
                  </a:lnTo>
                  <a:lnTo>
                    <a:pt x="0" y="2374930"/>
                  </a:ln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02659" cy="2413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438599" y="952500"/>
            <a:ext cx="564356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du Projet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5760" y="2572163"/>
            <a:ext cx="5319885" cy="706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  <a:spcBef>
                <a:spcPct val="0"/>
              </a:spcBef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Model 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contient la logique des données et leur structure. Il ne s’occupe pas de l’interface utilisateur.</a:t>
            </a:r>
          </a:p>
          <a:p>
            <a:pPr algn="l">
              <a:lnSpc>
                <a:spcPts val="3761"/>
              </a:lnSpc>
              <a:spcBef>
                <a:spcPct val="0"/>
              </a:spcBef>
            </a:pP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580060" indent="-290030" lvl="1">
              <a:lnSpc>
                <a:spcPts val="3761"/>
              </a:lnSpc>
              <a:buFont typeface="Arial"/>
              <a:buChar char="•"/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Classes principales :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761"/>
              </a:lnSpc>
              <a:spcBef>
                <a:spcPct val="0"/>
              </a:spcBef>
            </a:pP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Stade, Reservation, User</a:t>
            </a:r>
          </a:p>
          <a:p>
            <a:pPr algn="l" marL="580060" indent="-290030" lvl="1">
              <a:lnSpc>
                <a:spcPts val="3761"/>
              </a:lnSpc>
              <a:buFont typeface="Arial"/>
              <a:buChar char="•"/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Sources de données :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761"/>
              </a:lnSpc>
              <a:spcBef>
                <a:spcPct val="0"/>
              </a:spcBef>
            </a:pP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Firebase Firestore (stockage des stades, réservations et utilisateurs)</a:t>
            </a:r>
          </a:p>
          <a:p>
            <a:pPr algn="l" marL="580060" indent="-290030" lvl="1">
              <a:lnSpc>
                <a:spcPts val="3761"/>
              </a:lnSpc>
              <a:buFont typeface="Arial"/>
              <a:buChar char="•"/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Fonctions principales 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l">
              <a:lnSpc>
                <a:spcPts val="3761"/>
              </a:lnSpc>
              <a:spcBef>
                <a:spcPct val="0"/>
              </a:spcBef>
            </a:pP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récupérer les stades, créer une réservation, gérer les utilisateurs.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28570" y="2572163"/>
            <a:ext cx="5227416" cy="706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  <a:spcBef>
                <a:spcPct val="0"/>
              </a:spcBef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View 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correspond à tout ce que l’utilisateur voit et avec quoi il interagit.</a:t>
            </a:r>
          </a:p>
          <a:p>
            <a:pPr algn="l">
              <a:lnSpc>
                <a:spcPts val="3761"/>
              </a:lnSpc>
            </a:pP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580060" indent="-290030" lvl="1">
              <a:lnSpc>
                <a:spcPts val="37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Fichiers XML :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ayouts comme reservation_card.xml, activity_main.xml</a:t>
            </a:r>
          </a:p>
          <a:p>
            <a:pPr algn="l" marL="580060" indent="-290030" lvl="1">
              <a:lnSpc>
                <a:spcPts val="3761"/>
              </a:lnSpc>
              <a:buFont typeface="Arial"/>
              <a:buChar char="•"/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omposants UI : 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boutons, cartes de stade, liste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recyclables</a:t>
            </a:r>
          </a:p>
          <a:p>
            <a:pPr algn="l" marL="580060" indent="-290030" lvl="1">
              <a:lnSpc>
                <a:spcPts val="37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Bib</a:t>
            </a:r>
            <a:r>
              <a:rPr lang="en-US" b="true" sz="26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liothèques UI :</a:t>
            </a:r>
            <a:r>
              <a:rPr lang="en-US" sz="26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Material Design, OSMDroid pour les cartes</a:t>
            </a:r>
          </a:p>
          <a:p>
            <a:pPr algn="l">
              <a:lnSpc>
                <a:spcPts val="376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598598" y="2572163"/>
            <a:ext cx="5088690" cy="779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  <a:spcBef>
                <a:spcPct val="0"/>
              </a:spcBef>
            </a:pPr>
            <a:r>
              <a:rPr lang="en-US" b="true" sz="261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Controller </a:t>
            </a:r>
            <a:r>
              <a:rPr lang="en-US" sz="261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fait le lien entre le modèle et la vue. Il récupère les données depuis le modèle et les affiche dans la vue,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  <a:p>
            <a:pPr algn="l" marL="564667" indent="-282333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1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Activities / Fragments : </a:t>
            </a:r>
            <a:r>
              <a:rPr lang="en-US" sz="261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MainActivity, DetailTerrainActivity</a:t>
            </a:r>
          </a:p>
          <a:p>
            <a:pPr algn="l" marL="564667" indent="-282333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1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Gestion des événeme</a:t>
            </a:r>
            <a:r>
              <a:rPr lang="en-US" b="true" sz="261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nts : </a:t>
            </a:r>
            <a:r>
              <a:rPr lang="en-US" sz="261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 sur un </a:t>
            </a:r>
            <a:r>
              <a:rPr lang="en-US" sz="261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bouton pour réserver, affichage des détails d’un stade</a:t>
            </a:r>
          </a:p>
          <a:p>
            <a:pPr algn="l" marL="564667" indent="-282333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1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Appel aux fonctions Fireba</a:t>
            </a:r>
            <a:r>
              <a:rPr lang="en-US" b="true" sz="261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 :</a:t>
            </a:r>
            <a:r>
              <a:rPr lang="en-US" sz="261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récupérer la lis</a:t>
            </a:r>
            <a:r>
              <a:rPr lang="en-US" sz="261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 des stades, vérifier les réservations disponibles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303646" y="459889"/>
            <a:ext cx="3989070" cy="1137622"/>
            <a:chOff x="0" y="0"/>
            <a:chExt cx="5318760" cy="15168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83274" y="179788"/>
              <a:ext cx="3935487" cy="83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sz="373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383274" y="979220"/>
              <a:ext cx="2207518" cy="52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078355"/>
            <a:ext cx="20097573" cy="15461911"/>
          </a:xfrm>
          <a:custGeom>
            <a:avLst/>
            <a:gdLst/>
            <a:ahLst/>
            <a:cxnLst/>
            <a:rect r="r" b="b" t="t" l="l"/>
            <a:pathLst>
              <a:path h="15461911" w="20097573">
                <a:moveTo>
                  <a:pt x="0" y="0"/>
                </a:moveTo>
                <a:lnTo>
                  <a:pt x="20097573" y="0"/>
                </a:lnTo>
                <a:lnTo>
                  <a:pt x="20097573" y="15461911"/>
                </a:lnTo>
                <a:lnTo>
                  <a:pt x="0" y="1546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18" t="0" r="-3177" b="-8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31942" y="2400614"/>
            <a:ext cx="12824810" cy="5767287"/>
            <a:chOff x="0" y="0"/>
            <a:chExt cx="3377728" cy="15189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7728" cy="1518956"/>
            </a:xfrm>
            <a:custGeom>
              <a:avLst/>
              <a:gdLst/>
              <a:ahLst/>
              <a:cxnLst/>
              <a:rect r="r" b="b" t="t" l="l"/>
              <a:pathLst>
                <a:path h="1518956" w="3377728">
                  <a:moveTo>
                    <a:pt x="0" y="0"/>
                  </a:moveTo>
                  <a:lnTo>
                    <a:pt x="3377728" y="0"/>
                  </a:lnTo>
                  <a:lnTo>
                    <a:pt x="3377728" y="1518956"/>
                  </a:lnTo>
                  <a:lnTo>
                    <a:pt x="0" y="1518956"/>
                  </a:lnTo>
                  <a:close/>
                </a:path>
              </a:pathLst>
            </a:custGeom>
            <a:solidFill>
              <a:srgbClr val="08261E">
                <a:alpha val="6588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77728" cy="1557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700000">
            <a:off x="2323759" y="1108276"/>
            <a:ext cx="1063157" cy="2023310"/>
          </a:xfrm>
          <a:custGeom>
            <a:avLst/>
            <a:gdLst/>
            <a:ahLst/>
            <a:cxnLst/>
            <a:rect r="r" b="b" t="t" l="l"/>
            <a:pathLst>
              <a:path h="2023310" w="1063157">
                <a:moveTo>
                  <a:pt x="0" y="0"/>
                </a:moveTo>
                <a:lnTo>
                  <a:pt x="1063157" y="0"/>
                </a:lnTo>
                <a:lnTo>
                  <a:pt x="1063157" y="2023310"/>
                </a:lnTo>
                <a:lnTo>
                  <a:pt x="0" y="2023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8100000">
            <a:off x="15637729" y="7453997"/>
            <a:ext cx="1062346" cy="2021766"/>
          </a:xfrm>
          <a:custGeom>
            <a:avLst/>
            <a:gdLst/>
            <a:ahLst/>
            <a:cxnLst/>
            <a:rect r="r" b="b" t="t" l="l"/>
            <a:pathLst>
              <a:path h="2021766" w="1062346">
                <a:moveTo>
                  <a:pt x="0" y="0"/>
                </a:moveTo>
                <a:lnTo>
                  <a:pt x="1062346" y="0"/>
                </a:lnTo>
                <a:lnTo>
                  <a:pt x="1062346" y="2021766"/>
                </a:lnTo>
                <a:lnTo>
                  <a:pt x="0" y="2021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603684" y="4538300"/>
            <a:ext cx="5677540" cy="2026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6"/>
              </a:lnSpc>
              <a:spcBef>
                <a:spcPct val="0"/>
              </a:spcBef>
            </a:pPr>
            <a:r>
              <a:rPr lang="en-US" b="true" sz="586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Démonstration </a:t>
            </a:r>
          </a:p>
          <a:p>
            <a:pPr algn="ctr">
              <a:lnSpc>
                <a:spcPts val="8206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50412" y="459889"/>
            <a:ext cx="3989070" cy="1137622"/>
            <a:chOff x="0" y="0"/>
            <a:chExt cx="5318760" cy="15168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2991" cy="1516830"/>
            </a:xfrm>
            <a:custGeom>
              <a:avLst/>
              <a:gdLst/>
              <a:ahLst/>
              <a:cxnLst/>
              <a:rect r="r" b="b" t="t" l="l"/>
              <a:pathLst>
                <a:path h="1516830" w="1472991">
                  <a:moveTo>
                    <a:pt x="0" y="0"/>
                  </a:moveTo>
                  <a:lnTo>
                    <a:pt x="1472991" y="0"/>
                  </a:lnTo>
                  <a:lnTo>
                    <a:pt x="1472991" y="1516830"/>
                  </a:lnTo>
                  <a:lnTo>
                    <a:pt x="0" y="15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83274" y="179788"/>
              <a:ext cx="3935487" cy="83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4"/>
                </a:lnSpc>
              </a:pPr>
              <a:r>
                <a:rPr lang="en-US" sz="373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ujdaStadium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83274" y="979220"/>
              <a:ext cx="2207518" cy="52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spc="39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Booking</a:t>
              </a:r>
              <a:r>
                <a:rPr lang="en-US" b="true" sz="2413" spc="3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53497" y="2395999"/>
            <a:ext cx="11019094" cy="4973867"/>
            <a:chOff x="0" y="0"/>
            <a:chExt cx="2902148" cy="1309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02148" cy="1309990"/>
            </a:xfrm>
            <a:custGeom>
              <a:avLst/>
              <a:gdLst/>
              <a:ahLst/>
              <a:cxnLst/>
              <a:rect r="r" b="b" t="t" l="l"/>
              <a:pathLst>
                <a:path h="1309990" w="2902148">
                  <a:moveTo>
                    <a:pt x="0" y="0"/>
                  </a:moveTo>
                  <a:lnTo>
                    <a:pt x="2902148" y="0"/>
                  </a:lnTo>
                  <a:lnTo>
                    <a:pt x="2902148" y="1309990"/>
                  </a:lnTo>
                  <a:lnTo>
                    <a:pt x="0" y="1309990"/>
                  </a:lnTo>
                  <a:close/>
                </a:path>
              </a:pathLst>
            </a:custGeom>
            <a:solidFill>
              <a:srgbClr val="08261E">
                <a:alpha val="6588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02148" cy="1348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76496" y="3248847"/>
            <a:ext cx="10173097" cy="32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b="true" sz="3031" spc="49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« Malgré les défis techniques et fonctionnels, le projet OujdaStadium illustre une application robuste et interactive, combinant géolocalisation, réservation en temps réel et gestion efficace des données grâce à Firebase. »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561273" y="904875"/>
            <a:ext cx="2550948" cy="2604145"/>
            <a:chOff x="0" y="0"/>
            <a:chExt cx="3401265" cy="3472193"/>
          </a:xfrm>
        </p:grpSpPr>
        <p:sp>
          <p:nvSpPr>
            <p:cNvPr name="Freeform 8" id="8"/>
            <p:cNvSpPr/>
            <p:nvPr/>
          </p:nvSpPr>
          <p:spPr>
            <a:xfrm flipH="false" flipV="false" rot="7967320">
              <a:off x="762584" y="686894"/>
              <a:ext cx="1417543" cy="2697746"/>
            </a:xfrm>
            <a:custGeom>
              <a:avLst/>
              <a:gdLst/>
              <a:ahLst/>
              <a:cxnLst/>
              <a:rect r="r" b="b" t="t" l="l"/>
              <a:pathLst>
                <a:path h="2697746" w="1417543">
                  <a:moveTo>
                    <a:pt x="0" y="0"/>
                  </a:moveTo>
                  <a:lnTo>
                    <a:pt x="1417543" y="0"/>
                  </a:lnTo>
                  <a:lnTo>
                    <a:pt x="1417543" y="2697746"/>
                  </a:lnTo>
                  <a:lnTo>
                    <a:pt x="0" y="269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7967320">
              <a:off x="1221138" y="87553"/>
              <a:ext cx="1417543" cy="2697746"/>
            </a:xfrm>
            <a:custGeom>
              <a:avLst/>
              <a:gdLst/>
              <a:ahLst/>
              <a:cxnLst/>
              <a:rect r="r" b="b" t="t" l="l"/>
              <a:pathLst>
                <a:path h="2697746" w="1417543">
                  <a:moveTo>
                    <a:pt x="0" y="0"/>
                  </a:moveTo>
                  <a:lnTo>
                    <a:pt x="1417543" y="0"/>
                  </a:lnTo>
                  <a:lnTo>
                    <a:pt x="1417543" y="2697746"/>
                  </a:lnTo>
                  <a:lnTo>
                    <a:pt x="0" y="269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902814" y="933450"/>
            <a:ext cx="4783309" cy="76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4"/>
              </a:lnSpc>
              <a:spcBef>
                <a:spcPct val="0"/>
              </a:spcBef>
            </a:pPr>
            <a:r>
              <a:rPr lang="en-US" sz="4431" spc="722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Conclusion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DAG7xlLk_ls</dc:identifier>
  <dcterms:modified xsi:type="dcterms:W3CDTF">2011-08-01T06:04:30Z</dcterms:modified>
  <cp:revision>1</cp:revision>
  <dc:title>"Imaginez : C'est un samedi après-midi ensoleillé à Oujda. Vous êtes un groupe d'amis passionnés de football, prêts à taper dans le ballon. Mais voilà : vous appelez partout, vous tournez en ville, et... rien ! Les terrains sont soit complets, soit mal</dc:title>
</cp:coreProperties>
</file>